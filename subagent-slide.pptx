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サブエージェント＝本体のAIが、目的別の「部下AI」に仕事を切り出して同時に働かせ、結論だけを受け取る仕組み。
01 相談を受ける：利用者が話す相手はいつもメインAI（司令塔）1体だけ。頼み方はいつもどおりでよい。
02 仕事を分けて同時に走らせる：メインAIが依頼を分解し、調べ役・作る役・見直し役へ渡す。各サブエージェントは自分専用の作業机（独立した文脈）で作業し、そのメモはメインに持ち込まれない。3体が並行して動くので待ち時間が短い。
03 要約だけ受け取る：戻ってくるのは結論の要約だけ。読んだ資料そのものは戻らないので、メインAIの手元が散らからず、長い作業でも息切れしない。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B84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6126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029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サブエージェント</a:t>
            </a:r>
            <a:pPr indent="0" marL="0">
              <a:buNone/>
            </a:pPr>
            <a:r>
              <a:rPr lang="en-US" sz="3600" b="1" dirty="0">
                <a:solidFill>
                  <a:srgbClr val="D9531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の仕組み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720840" y="457200"/>
            <a:ext cx="4965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48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ひとことで言うと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720840" y="694944"/>
            <a:ext cx="49651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4566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本体のAIが、</a:t>
            </a:r>
            <a:pPr indent="0" marL="0">
              <a:lnSpc>
                <a:spcPct val="135000"/>
              </a:lnSpc>
              <a:buNone/>
            </a:pPr>
            <a:r>
              <a:rPr lang="en-US" sz="1200" b="1" dirty="0">
                <a:solidFill>
                  <a:srgbClr val="B848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目的別の“部下AI”</a:t>
            </a:r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4566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に仕事を切り出して同時に働かせ、</a:t>
            </a:r>
            <a:pPr indent="0" marL="0">
              <a:lnSpc>
                <a:spcPct val="135000"/>
              </a:lnSpc>
              <a:buNone/>
            </a:pPr>
            <a:r>
              <a:rPr lang="en-US" sz="1200" b="1" dirty="0">
                <a:solidFill>
                  <a:srgbClr val="B848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結論だけ</a:t>
            </a:r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4566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を受け取る仕組み。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444752"/>
            <a:ext cx="3246120" cy="3154680"/>
          </a:xfrm>
          <a:prstGeom prst="roundRect">
            <a:avLst>
              <a:gd name="adj" fmla="val 2319"/>
            </a:avLst>
          </a:prstGeom>
          <a:solidFill>
            <a:srgbClr val="F6F8FB"/>
          </a:solidFill>
          <a:ln w="12700">
            <a:solidFill>
              <a:srgbClr val="DDE5E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04088" y="1572768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53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pPr indent="0" marL="0">
              <a:buNone/>
            </a:pPr>
            <a:r>
              <a:rPr lang="en-US" sz="1200" b="1" dirty="0">
                <a:solidFill>
                  <a:srgbClr val="1029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相談を受ける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931920" y="1444752"/>
            <a:ext cx="4343400" cy="3154680"/>
          </a:xfrm>
          <a:prstGeom prst="roundRect">
            <a:avLst>
              <a:gd name="adj" fmla="val 2319"/>
            </a:avLst>
          </a:prstGeom>
          <a:solidFill>
            <a:srgbClr val="F6F8FB"/>
          </a:solidFill>
          <a:ln w="12700">
            <a:solidFill>
              <a:srgbClr val="DDE5E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33088" y="1572768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53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pPr indent="0" marL="0">
              <a:buNone/>
            </a:pPr>
            <a:r>
              <a:rPr lang="en-US" sz="1200" b="1" dirty="0">
                <a:solidFill>
                  <a:srgbClr val="1029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仕事を分けて、同時に走らせる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458200" y="1444752"/>
            <a:ext cx="3227832" cy="3154680"/>
          </a:xfrm>
          <a:prstGeom prst="roundRect">
            <a:avLst>
              <a:gd name="adj" fmla="val 2319"/>
            </a:avLst>
          </a:prstGeom>
          <a:solidFill>
            <a:srgbClr val="F6F8FB"/>
          </a:solidFill>
          <a:ln w="12700">
            <a:solidFill>
              <a:srgbClr val="DDE5E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59368" y="1572768"/>
            <a:ext cx="2862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53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pPr indent="0" marL="0">
              <a:buNone/>
            </a:pPr>
            <a:r>
              <a:rPr lang="en-US" sz="1200" b="1" dirty="0">
                <a:solidFill>
                  <a:srgbClr val="1029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要約だけ受け取る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31520" y="2692908"/>
            <a:ext cx="100584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5875">
            <a:solidFill>
              <a:srgbClr val="B9C7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2692908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9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あなた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810512" y="3058668"/>
            <a:ext cx="256032" cy="0"/>
          </a:xfrm>
          <a:prstGeom prst="line">
            <a:avLst/>
          </a:prstGeom>
          <a:noFill/>
          <a:ln w="19050">
            <a:solidFill>
              <a:srgbClr val="8A9BB0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103120" y="2487168"/>
            <a:ext cx="1600200" cy="1143000"/>
          </a:xfrm>
          <a:prstGeom prst="roundRect">
            <a:avLst>
              <a:gd name="adj" fmla="val 6400"/>
            </a:avLst>
          </a:prstGeom>
          <a:solidFill>
            <a:srgbClr val="FFF3EC"/>
          </a:solidFill>
          <a:ln w="19050">
            <a:solidFill>
              <a:srgbClr val="D9531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103120" y="255574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29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メインAI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103120" y="2848356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48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＝ 司令塔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103120" y="309524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B7D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あなたが話しているのは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B7D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いつもこの1体だけ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02920" y="4261104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D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頼み方はいつもどおりでいい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 flipV="1">
            <a:off x="3703320" y="2263140"/>
            <a:ext cx="1554480" cy="795528"/>
          </a:xfrm>
          <a:prstGeom prst="line">
            <a:avLst/>
          </a:prstGeom>
          <a:noFill/>
          <a:ln w="25400">
            <a:solidFill>
              <a:srgbClr val="D9531E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3703320" y="3058668"/>
            <a:ext cx="1554480" cy="0"/>
          </a:xfrm>
          <a:prstGeom prst="line">
            <a:avLst/>
          </a:prstGeom>
          <a:noFill/>
          <a:ln w="25400">
            <a:solidFill>
              <a:srgbClr val="D9531E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3703320" y="3058668"/>
            <a:ext cx="1554480" cy="795528"/>
          </a:xfrm>
          <a:prstGeom prst="line">
            <a:avLst/>
          </a:prstGeom>
          <a:noFill/>
          <a:ln w="25400">
            <a:solidFill>
              <a:srgbClr val="D9531E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5257800" y="1938528"/>
            <a:ext cx="2834640" cy="649224"/>
          </a:xfrm>
          <a:prstGeom prst="roundRect">
            <a:avLst>
              <a:gd name="adj" fmla="val 8451"/>
            </a:avLst>
          </a:prstGeom>
          <a:solidFill>
            <a:srgbClr val="F0F8FB"/>
          </a:solidFill>
          <a:ln w="19050">
            <a:solidFill>
              <a:srgbClr val="6FB3C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367528" y="2071116"/>
            <a:ext cx="384048" cy="384048"/>
          </a:xfrm>
          <a:prstGeom prst="ellipse">
            <a:avLst/>
          </a:prstGeom>
          <a:solidFill>
            <a:srgbClr val="E4F2F6"/>
          </a:solidFill>
          <a:ln w="15875">
            <a:solidFill>
              <a:srgbClr val="6FB3C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367528" y="20711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7A9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調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870448" y="1970532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9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調べ役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870448" y="2180844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D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資料や過去ログを大量に読む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870448" y="2372868"/>
            <a:ext cx="2029968" cy="192024"/>
          </a:xfrm>
          <a:prstGeom prst="roundRect">
            <a:avLst>
              <a:gd name="adj" fmla="val 19048"/>
            </a:avLst>
          </a:prstGeom>
          <a:ln w="9525">
            <a:solidFill>
              <a:srgbClr val="6FB3C4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5870448" y="2372868"/>
            <a:ext cx="2029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E7A9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専用の作業机（メモは持ち帰らない）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5257800" y="2734056"/>
            <a:ext cx="2834640" cy="649224"/>
          </a:xfrm>
          <a:prstGeom prst="roundRect">
            <a:avLst>
              <a:gd name="adj" fmla="val 8451"/>
            </a:avLst>
          </a:prstGeom>
          <a:solidFill>
            <a:srgbClr val="F0F8FB"/>
          </a:solidFill>
          <a:ln w="19050">
            <a:solidFill>
              <a:srgbClr val="6FB3C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367528" y="2866644"/>
            <a:ext cx="384048" cy="384048"/>
          </a:xfrm>
          <a:prstGeom prst="ellipse">
            <a:avLst/>
          </a:prstGeom>
          <a:solidFill>
            <a:srgbClr val="E4F2F6"/>
          </a:solidFill>
          <a:ln w="15875">
            <a:solidFill>
              <a:srgbClr val="6FB3C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367528" y="28666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7A9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870448" y="276606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9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作る役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870448" y="2976372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D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実際に書く・直す・組み立てる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870448" y="3168396"/>
            <a:ext cx="2029968" cy="192024"/>
          </a:xfrm>
          <a:prstGeom prst="roundRect">
            <a:avLst>
              <a:gd name="adj" fmla="val 19048"/>
            </a:avLst>
          </a:prstGeom>
          <a:ln w="9525">
            <a:solidFill>
              <a:srgbClr val="6FB3C4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5870448" y="3168396"/>
            <a:ext cx="2029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E7A9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専用の作業机（メモは持ち帰らない）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5257800" y="3529584"/>
            <a:ext cx="2834640" cy="649224"/>
          </a:xfrm>
          <a:prstGeom prst="roundRect">
            <a:avLst>
              <a:gd name="adj" fmla="val 8451"/>
            </a:avLst>
          </a:prstGeom>
          <a:solidFill>
            <a:srgbClr val="F0F8FB"/>
          </a:solidFill>
          <a:ln w="19050">
            <a:solidFill>
              <a:srgbClr val="6FB3C4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367528" y="3662172"/>
            <a:ext cx="384048" cy="384048"/>
          </a:xfrm>
          <a:prstGeom prst="ellipse">
            <a:avLst/>
          </a:prstGeom>
          <a:solidFill>
            <a:srgbClr val="E4F2F6"/>
          </a:solidFill>
          <a:ln w="15875">
            <a:solidFill>
              <a:srgbClr val="6FB3C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367528" y="36621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7A9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点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5870448" y="3561588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9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見直し役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5870448" y="377190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D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抜けや間違いがないか点検する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870448" y="3963924"/>
            <a:ext cx="2029968" cy="192024"/>
          </a:xfrm>
          <a:prstGeom prst="roundRect">
            <a:avLst>
              <a:gd name="adj" fmla="val 19048"/>
            </a:avLst>
          </a:prstGeom>
          <a:ln w="9525">
            <a:solidFill>
              <a:srgbClr val="6FB3C4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5870448" y="3963924"/>
            <a:ext cx="2029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E7A9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専用の作業机（メモは持ち帰らない）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3931920" y="4261104"/>
            <a:ext cx="4343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7A9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3体が同時に動く ＝ 待ち時間が短い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8092440" y="2263140"/>
            <a:ext cx="640080" cy="795528"/>
          </a:xfrm>
          <a:prstGeom prst="line">
            <a:avLst/>
          </a:prstGeom>
          <a:noFill/>
          <a:ln w="25400">
            <a:solidFill>
              <a:srgbClr val="0E7A90"/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8092440" y="3058668"/>
            <a:ext cx="640080" cy="0"/>
          </a:xfrm>
          <a:prstGeom prst="line">
            <a:avLst/>
          </a:prstGeom>
          <a:noFill/>
          <a:ln w="25400">
            <a:solidFill>
              <a:srgbClr val="0E7A90"/>
            </a:solidFill>
            <a:prstDash val="solid"/>
            <a:tailEnd type="triangle"/>
          </a:ln>
        </p:spPr>
      </p:sp>
      <p:sp>
        <p:nvSpPr>
          <p:cNvPr id="47" name="Shape 45"/>
          <p:cNvSpPr/>
          <p:nvPr/>
        </p:nvSpPr>
        <p:spPr>
          <a:xfrm flipV="1">
            <a:off x="8092440" y="3058668"/>
            <a:ext cx="640080" cy="795528"/>
          </a:xfrm>
          <a:prstGeom prst="line">
            <a:avLst/>
          </a:prstGeom>
          <a:noFill/>
          <a:ln w="25400">
            <a:solidFill>
              <a:srgbClr val="0E7A90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8732520" y="2487168"/>
            <a:ext cx="2679192" cy="1143000"/>
          </a:xfrm>
          <a:prstGeom prst="roundRect">
            <a:avLst>
              <a:gd name="adj" fmla="val 6400"/>
            </a:avLst>
          </a:prstGeom>
          <a:solidFill>
            <a:srgbClr val="FFF3EC"/>
          </a:solidFill>
          <a:ln w="19050">
            <a:solidFill>
              <a:srgbClr val="D9531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732520" y="2555748"/>
            <a:ext cx="2679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29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メインAIが1つの答えに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8732520" y="2875788"/>
            <a:ext cx="2679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48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受け取るのは数行の要約だけ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732520" y="3186684"/>
            <a:ext cx="2679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D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読んだ資料そのものは戻らない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8458200" y="4261104"/>
            <a:ext cx="32278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848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あなたへ返答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502920" y="4736592"/>
            <a:ext cx="11183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66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会議で部長が3人の担当に仕事を振り、上がってきた報告だけをまとめる——サブエージェントの動きは、それと同じです。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502920" y="5138928"/>
            <a:ext cx="3611880" cy="914400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5E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04088" y="5248656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53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pPr indent="0" marL="0">
              <a:buNone/>
            </a:pPr>
            <a:r>
              <a:rPr lang="en-US" sz="1300" b="1" dirty="0">
                <a:solidFill>
                  <a:srgbClr val="1029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机が分かれる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704088" y="5504688"/>
            <a:ext cx="3246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4566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サブが読んだ資料も試行錯誤も、メインAIの記憶には入らない。話が散らからない。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4288536" y="5138928"/>
            <a:ext cx="3611880" cy="914400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5E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489704" y="5248656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53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pPr indent="0" marL="0">
              <a:buNone/>
            </a:pPr>
            <a:r>
              <a:rPr lang="en-US" sz="1300" b="1" dirty="0">
                <a:solidFill>
                  <a:srgbClr val="1029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同時に進む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4489704" y="5504688"/>
            <a:ext cx="3246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4566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調べる・作る・点検するが並行して走る。順番待ちが消えて、全体が速くなる。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8074152" y="5138928"/>
            <a:ext cx="3611880" cy="914400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5E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8275320" y="5248656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53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pPr indent="0" marL="0">
              <a:buNone/>
            </a:pPr>
            <a:r>
              <a:rPr lang="en-US" sz="1300" b="1" dirty="0">
                <a:solidFill>
                  <a:srgbClr val="1029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戻るのは結論だけ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8275320" y="5504688"/>
            <a:ext cx="3246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4566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1万字読んでも返すのは数行。だから長い作業でもメインAIが息切れしない。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502920" y="623620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B6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AI実践講座 ／ サブエージェント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6199632" y="623620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9B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SUB-AGENT · 01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サブエージェントの仕組み</dc:title>
  <dc:subject>PptxGenJS Presentation</dc:subject>
  <dc:creator>AI実践講座</dc:creator>
  <cp:lastModifiedBy>AI実践講座</cp:lastModifiedBy>
  <cp:revision>1</cp:revision>
  <dcterms:created xsi:type="dcterms:W3CDTF">2026-08-22T12:03:45Z</dcterms:created>
  <dcterms:modified xsi:type="dcterms:W3CDTF">2026-08-22T12:03:45Z</dcterms:modified>
</cp:coreProperties>
</file>